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46304" cy="530352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5D43"/>
                </a:solidFill>
                <a:latin typeface="Arial"/>
              </a:defRPr>
            </a:pPr>
            <a:r>
              <a:t>AlpaTrade user guide</a:t>
            </a:r>
          </a:p>
          <a:p>
            <a:pPr>
              <a:spcAft>
                <a:spcPts val="0"/>
              </a:spcAft>
              <a:defRPr sz="1400" b="0">
                <a:solidFill>
                  <a:srgbClr val="5F6B64"/>
                </a:solidFill>
                <a:latin typeface="Arial"/>
              </a:defRPr>
            </a:pPr>
            <a:r>
              <a:t>The chat-first AI trading desk on Alpaca, from sign-in to your first live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Part 1 · Getting started: sign in, connect Alpaca from the chat, clone the Mag-7 buy-the-dip strategy, backtest it and activate it</a:t>
            </a:r>
          </a:p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Part 2 · Advanced features: every other menu, from the Leaderboard and Hedge Funds to the Dashboard, Settings, News and Profile</a:t>
            </a:r>
          </a:p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Version 0.40.1 · 12 October 2026 · Predictive Labs Ltd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1. Sign in and open the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Go to alpatrade.chat and choose Sign in, or Start to create a free account.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Sign in with Google, or with your email and password.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You land in the chat. The left menu holds Trade, Chats, Agents, Research and Account. Market news is on the right.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Type a request in plain English, or tap one of the Try a prompt ideas below the box.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chat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2. Connect Alpaca from the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In the chat box, type connect alpaca. Type connect alpaca live to set up your live keys as well.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Read the heads-up first. AlpaTrade logs in to Alpaca for you and creates new API keys, so your old keys stop working at once.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Enter the email you use for Alpaca, then your Alpaca password. The box hides what you type. The password is used once and never saved.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Type cancel at any time to stop.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359169"/>
            <a:ext cx="6254496" cy="441398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connect-alpaca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86601"/>
            <a:ext cx="6199632" cy="4359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You only type the 2FA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AlpaTrade opens Alpaca's login page in a secure browser on its server and fills in your email and password for you (masked in these pictures).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Alpaca then asks for the 6-digit code from your authenticator app.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Type that code into the AlpaTrade chat straight away, because codes expire in about 30 seconds. It is hidden and never stored.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You don't open Alpaca yourself. The 2FA code is the only thing you type.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1841" y="886968"/>
            <a:ext cx="4217309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04a-alpaca-login-masked-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273" y="914400"/>
            <a:ext cx="4162445" cy="25511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60312" y="3639312"/>
            <a:ext cx="3960367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04b-alpaca-2fa-prompt-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44" y="3666744"/>
            <a:ext cx="3905504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New keys created, saved and checked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AlpaTrade creates a fresh paper key pair on your Alpaca dashboard. The key and secret are masked here.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keys are checked read-only with Alpaca and then stored encrypted. The secret is never sent back to your browser.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chat confirms: Done! Alpaca is connected.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Settings &gt; Integrations now shows Alpaca paper as Configured. Press Check at any time: a green OK shows your account and its status.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Prefer to do it by hand? Paste your keys into the same Settings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886968"/>
            <a:ext cx="459028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a-alpaca-paper-keys-mas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914400"/>
            <a:ext cx="4535424" cy="25511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13248" y="3709415"/>
            <a:ext cx="6254496" cy="2465832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05b-settings-check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736847"/>
            <a:ext cx="6199632" cy="2410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3. Pick Mag-7 Buy-the-Dip and clone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Open Leaderboard from the left menu.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Mag-7 Buy-the-Dip · 3-day hold (live) is the live strategy run by Predictive Labs Ltd. It buys a Magnificent-7 stock after a dip of 3% or more from its 20-day high. It sells at +8%, at −1.5% or after 3 days.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Each row shows the annualised return, how long the strategy has run, and its alpha vs SPY.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Press Clone strategy. You get your own private copy, and a backtest starts in a new chat. If you clone the same strategy again, AlpaTrade reuses your copy.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-leaderboard-cl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4. Backtest your copy in the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backtest uses daily data from January 2016 to today, with fees and slippage included.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table compares your strategy with SPY: total return, annualised return, Sharpe ratio, maximum drawdown, number of trades and win rate.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In this run the strategy made +20.0% in total (+1.8% a year), against +360.6% for SPY. Sharpe was 0.19, the worst drawdown −36.3%, with 4,952 trades and 49% of them winners.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Copy CSV and Download CSV export the figures.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 backtest is hypothetical. It is not investment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-backtest-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The equity curve vs SPY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Below the table, a chart shows your strategy and SPY. Both lines start at 100.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Download PNG saves the chart.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To try a change, ask in plain English, for example: change the stop to 2% and rerun strategy #37. You can also tap a suggested follow-up.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Open the strategy page to read the full rules or to rerun the backtest.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-backtest-equity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5. Activate on paper or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Under the backtest, the chat shows your status and two buttons.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Activate Paper trades with paper money (up to $10,000) on your Alpaca paper account until you stop it. It starts within a minute and trades during US market hours (ET).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Activate Live… always opens a confirmation page first. One click never starts live trading.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same buttons appear on the Leaderboard and under My strategies.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2123" y="886968"/>
            <a:ext cx="4136745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activate-butt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914400"/>
            <a:ext cx="4081881" cy="25511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13248" y="4204525"/>
            <a:ext cx="6254496" cy="147561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09b-activate-paper-started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231957"/>
            <a:ext cx="6199632" cy="14207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Activate Live: you confirm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Activate Live trades real money on your own Alpaca live account, using cash only.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If no live account is connected, you see this page. Follow the link to Settings &gt; Integrations, or type connect alpaca live in the chat.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With a live account connected, the page shows the amount the strategy may use and asks you to confirm. The strategy starts only after you confirm.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Later you can Pause it (no new buys; open trades still exit) or Deactivate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2333244"/>
            <a:ext cx="6254496" cy="2465832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10-activate-live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360676"/>
            <a:ext cx="6199632" cy="2410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My strategies and the Dashboard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My strategies lists every strategy you own, private ones included, with Shown as, annualised return, running period and alpha vs SPY.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 strategy that is trading shows Paper running, with a Stop paper button next to it.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Dashboard has a My strategies card with the same controls and the return since you activated it.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Make public lists your strategy on the Leaderboard. Edit and Delete sit beside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957072"/>
            <a:ext cx="6254496" cy="2465832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11a-my-strategies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984504"/>
            <a:ext cx="6199632" cy="24109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771501" y="3639312"/>
            <a:ext cx="553798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11b-dashboard-card-2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933" y="3666744"/>
            <a:ext cx="5483124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68680"/>
            <a:ext cx="146304" cy="530352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  <a:p>
            <a:pPr>
              <a:spcAft>
                <a:spcPts val="0"/>
              </a:spcAft>
              <a:defRPr sz="1400" b="0">
                <a:solidFill>
                  <a:srgbClr val="5F6B64"/>
                </a:solidFill>
                <a:latin typeface="Arial"/>
              </a:defRPr>
            </a:pPr>
            <a:r>
              <a:t>Everything beyond your first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Public site: Platform, Leaderboard, Hedge Funds and Developers.</a:t>
            </a:r>
          </a:p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Trade: Dashboard, Backtests, Paper runs, Live runs, Live account, Leaderboard, My strategies and Daily advisor.</a:t>
            </a:r>
          </a:p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Agents: Backtest, Validate, Reconcile, Paper Trade and Full Cycle.</a:t>
            </a:r>
          </a:p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Research: Market Map, Charts, Premarket, Model Analytics, News, Hedge Funds and more.</a:t>
            </a:r>
          </a:p>
          <a:p>
            <a:pPr>
              <a:spcAft>
                <a:spcPts val="900"/>
              </a:spcAft>
              <a:defRPr sz="1400" b="0">
                <a:solidFill>
                  <a:srgbClr val="1B2621"/>
                </a:solidFill>
                <a:latin typeface="Arial"/>
              </a:defRPr>
            </a:pPr>
            <a:r>
              <a:t>•  Account: Agent Pipeline, Data health, Logging, Settings and Help. Profile is at the bottom of the menu.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-men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Platform and Developers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Platform explains the engine behind AlpaTrade: broker links, market data, a backtester and a paper-trading loop.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US equities on Alpaca are live today. Crypto, FX and prediction markets are on the roadmap.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Developers documents the Agent API at api.alpatrade.chat, with an API reference and a Swagger page to try calls.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Command line: alpatrade backtest paper btd-7dp-05sl-1tp-1d-3m runs the same backtester from your terminal. The name spells out the settings, and each run saves a dated results folder.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886968"/>
            <a:ext cx="5157216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13a-platform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914400"/>
            <a:ext cx="5102352" cy="25511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729962" y="3639312"/>
            <a:ext cx="5621066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13b-developers-cli-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394" y="3666744"/>
            <a:ext cx="5566202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Leaderboard filters and Copy for ChatGPT /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Filter by All, Live, Backtest, AlpaTrade, AlpaTrade walk-forward or chatwithtraders.com, or search for a trader or strategy.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Backtests carry a BACKTEST label. Only Live entries show a real track record.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Open in Grok opens the strategy in Grok, ready to discuss.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Copy to clipboard copies the strategy as a ready-made skill. Paste it into ChatGPT or Claude.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View more opens the full strategy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172337"/>
            <a:ext cx="6254496" cy="2035302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14a-leaderboard-filters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99769"/>
            <a:ext cx="6199632" cy="198043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13248" y="3752469"/>
            <a:ext cx="6254496" cy="2379726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14b-leaderboard-copy-3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779901"/>
            <a:ext cx="6199632" cy="23248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Hedge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See what well-known funds hold and how that portfolio performed.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Returns are estimated from each fund's 13F filings (its disclosed long US stock positions). They are not the fund's reported results.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Columns show each year since 2021, year to date, the last twelve months, the last twelve months vs SPY, and coverage.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There is also a screener over every 13F filer, the largest managers and recent activist filings. Free for everyone once signed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5-hedge-fu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Dashboard: paper or live, MTD or YTD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Choose an account (all accounts, a paper account or a live account) and a period: MTD or YTD.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Tiles show equity, P&amp;L, return, unrealised P&amp;L, cash, net deposits, buying power and the annualised return since the account opened.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Three charts: Performance vs SPY (both start at 100), Drawdown, and Daily returns vs SPY.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Further down: Daily trading advisor, P&amp;L contributors, strategy rankings, open positions and My strategies.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957072"/>
            <a:ext cx="6254496" cy="2465832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16a-dashboard-ytd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984504"/>
            <a:ext cx="6199632" cy="24109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72123" y="3639312"/>
            <a:ext cx="4136745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16b-dashboard-charts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5" y="3666744"/>
            <a:ext cx="4081881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Settings &gt;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Alpaca paper and Alpaca live (real money) each have their own keys and status.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Check sends one read-only request to Alpaca and shows OK with the account and its status.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Keys are stored encrypted and never sent back to your browser. Saving keys never places a trade.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A live strategy runs only after you press Activate Live and confirm.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Email reports: choose which daily reports reach your sign-in address.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601343"/>
            <a:ext cx="6254496" cy="392963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7-settings-integ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28775"/>
            <a:ext cx="6199632" cy="38747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Profile and Shown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Profile shows your email, display name and linked Alpaca accounts, with keys masked. You can add another paper account or remove one.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Shown as is the public name on the Leaderboard and the strategy page, up to 80 characters. Set it under My strategies &gt; Edit.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Tick Public to list a strategy on the Leaderboard. Leave it unticked to keep the strategy private.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561047"/>
            <a:ext cx="2220894" cy="4010224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18a-profile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88479"/>
            <a:ext cx="2166030" cy="3955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62158" y="2559158"/>
            <a:ext cx="3905585" cy="2014002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18b-shown-as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590" y="2586590"/>
            <a:ext cx="3850721" cy="19591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News and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News panel sits to the right of the chat and the Dashboard. It shows the latest headlines with the ticker and its move, grouped by catalyst.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Filter by ticker, company, event, direction or date. Close the panel with &gt;.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Research menu adds Market Map (S&amp;P 500 by sector, coloured by return), Charts, Premarket, Model Analytics, News Timing, Historical Research and Market Intel.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You can also ask in the chat: What's the latest news on TSLA? or Show me a market map.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2123" y="886968"/>
            <a:ext cx="4136745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19a-news-panel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914400"/>
            <a:ext cx="4081881" cy="25511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16331" y="3639312"/>
            <a:ext cx="5248329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19b-market-map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63" y="3666744"/>
            <a:ext cx="5193465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" y="3291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B2621"/>
                </a:solidFill>
                <a:latin typeface="Arial"/>
              </a:defRPr>
            </a:pPr>
            <a:r>
              <a:t>AlpaTrade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6576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F5D43"/>
                </a:solidFill>
                <a:latin typeface="Arial"/>
              </a:defRPr>
            </a:pPr>
            <a:r>
              <a:t>PART 2 · ADVANCED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AlpaTrade user guide · v0.40.1 · 12 October 2026 · © Predictive Labs Ltd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5F6B64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1005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F5D43"/>
                </a:solidFill>
                <a:latin typeface="Arial"/>
              </a:defRPr>
            </a:pPr>
            <a:r>
              <a:t>Runs, advisor, agents and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572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Backtests lists grid-searched runs that are ready to deploy. You can start from a preset such as Dip · mega-cap tech or Momentum.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Paper runs and Live runs list your sessions. Live account is a read-only view of a linked live account.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Daily advisor reviews your paper accounts each day, 15 minutes after the NYSE close.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The Agents menu runs Backtest, Validate, Reconcile, Paper Trade or Full Cycle. Agent Pipeline shows the automated pipeline.</a:t>
            </a:r>
          </a:p>
          <a:p>
            <a:pPr>
              <a:spcAft>
                <a:spcPts val="900"/>
              </a:spcAft>
              <a:defRPr sz="1350" b="0">
                <a:solidFill>
                  <a:srgbClr val="1B2621"/>
                </a:solidFill>
                <a:latin typeface="Arial"/>
              </a:defRPr>
            </a:pPr>
            <a:r>
              <a:t>•  Help &amp; shortcuts holds the full command reference.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452181"/>
            <a:ext cx="6254496" cy="1475613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20a-backtests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79613"/>
            <a:ext cx="6199632" cy="142074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72123" y="3639312"/>
            <a:ext cx="4136745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20b-help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5" y="3666744"/>
            <a:ext cx="4081881" cy="2551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AlpaTrade user guide</dc:title>
  <dc:subject/>
  <dc:creator>Predictive Labs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